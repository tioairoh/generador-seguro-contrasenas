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Lato Light" panose="020F0502020204030203" pitchFamily="34" charset="0"/>
      <p:regular r:id="rId18"/>
      <p:bold r:id="rId19"/>
      <p:italic r:id="rId20"/>
      <p:boldItalic r:id="rId21"/>
    </p:embeddedFont>
    <p:embeddedFont>
      <p:font typeface="Poppins" panose="00000500000000000000" pitchFamily="2" charset="0"/>
      <p:regular r:id="rId22"/>
      <p:bold r:id="rId23"/>
      <p:italic r:id="rId24"/>
      <p:boldItalic r:id="rId25"/>
    </p:embeddedFont>
    <p:embeddedFont>
      <p:font typeface="Poppins SemiBold" panose="000007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A451575-91BB-45FB-9684-EBE81200015D}">
  <a:tblStyle styleId="{3A451575-91BB-45FB-9684-EBE81200015D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1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13" Type="http://schemas.openxmlformats.org/officeDocument/2006/relationships/image" Target="../media/image41.png"/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12" Type="http://schemas.openxmlformats.org/officeDocument/2006/relationships/image" Target="../media/image4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39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32.png"/><Relationship Id="rId9" Type="http://schemas.openxmlformats.org/officeDocument/2006/relationships/image" Target="../media/image3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12" Type="http://schemas.openxmlformats.org/officeDocument/2006/relationships/image" Target="../media/image5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11" Type="http://schemas.openxmlformats.org/officeDocument/2006/relationships/image" Target="../media/image49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2.png"/><Relationship Id="rId4" Type="http://schemas.openxmlformats.org/officeDocument/2006/relationships/image" Target="../media/image5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0" y="1240184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050494" y="2287934"/>
            <a:ext cx="8091011" cy="186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GENERADOR SEGURO DE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875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 CONTRASEÑAS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3124200" y="4535834"/>
            <a:ext cx="59436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CBD5E1"/>
                </a:solidFill>
                <a:latin typeface="Lato Light"/>
                <a:ea typeface="Lato Light"/>
                <a:cs typeface="Lato Light"/>
                <a:sym typeface="Lato Light"/>
              </a:rPr>
              <a:t>Herramienta integral de Generación, Análisis y Educación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843336" y="5742607"/>
            <a:ext cx="450532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818CF8"/>
                </a:solidFill>
                <a:latin typeface="Lato"/>
                <a:ea typeface="Lato"/>
                <a:cs typeface="Lato"/>
                <a:sym typeface="Lato"/>
              </a:rPr>
              <a:t>César </a:t>
            </a:r>
            <a:r>
              <a:rPr lang="en-US" sz="1500" b="0" i="0" u="none" strike="noStrike" cap="none" dirty="0" err="1">
                <a:solidFill>
                  <a:srgbClr val="818CF8"/>
                </a:solidFill>
                <a:latin typeface="Lato"/>
                <a:ea typeface="Lato"/>
                <a:cs typeface="Lato"/>
                <a:sym typeface="Lato"/>
              </a:rPr>
              <a:t>Paúl</a:t>
            </a:r>
            <a:r>
              <a:rPr lang="en-US" sz="1500" b="0" i="0" u="none" strike="noStrike" cap="none" dirty="0">
                <a:solidFill>
                  <a:srgbClr val="818CF8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818CF8"/>
                </a:solidFill>
                <a:latin typeface="Lato"/>
                <a:ea typeface="Lato"/>
                <a:cs typeface="Lato"/>
                <a:sym typeface="Lato"/>
              </a:rPr>
              <a:t>Cango</a:t>
            </a:r>
            <a:r>
              <a:rPr lang="en-US" sz="1500" b="0" i="0" u="none" strike="noStrike" cap="none" dirty="0">
                <a:solidFill>
                  <a:srgbClr val="818CF8"/>
                </a:solidFill>
                <a:latin typeface="Lato"/>
                <a:ea typeface="Lato"/>
                <a:cs typeface="Lato"/>
                <a:sym typeface="Lato"/>
              </a:rPr>
              <a:t> Medina - Ing. </a:t>
            </a:r>
            <a:r>
              <a:rPr lang="en-US" sz="1500" b="0" i="0" u="none" strike="noStrike" cap="none" dirty="0" err="1">
                <a:solidFill>
                  <a:srgbClr val="818CF8"/>
                </a:solidFill>
                <a:latin typeface="Lato"/>
                <a:ea typeface="Lato"/>
                <a:cs typeface="Lato"/>
                <a:sym typeface="Lato"/>
              </a:rPr>
              <a:t>Sistemas</a:t>
            </a:r>
            <a:r>
              <a:rPr lang="en-US" sz="1500" b="0" i="0" u="none" strike="noStrike" cap="none" dirty="0">
                <a:solidFill>
                  <a:srgbClr val="818CF8"/>
                </a:solidFill>
                <a:latin typeface="Lato"/>
                <a:ea typeface="Lato"/>
                <a:cs typeface="Lato"/>
                <a:sym typeface="Lato"/>
              </a:rPr>
              <a:t> | 2026/2027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24025"/>
            <a:ext cx="5276850" cy="332601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1066800" y="2209800"/>
            <a:ext cx="4305300" cy="133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0" b="1" i="0" u="none" strike="noStrike" cap="non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81%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1066800" y="3638550"/>
            <a:ext cx="4305300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Violaciones de Datos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1066800" y="4177605"/>
            <a:ext cx="430530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Ocurren por contraseñas débiles o reutilizadas (Verizon)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6334125" y="1982092"/>
            <a:ext cx="554069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 Realidad Actual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6619875" y="2496752"/>
            <a:ext cx="5254942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 </a:t>
            </a:r>
            <a:r>
              <a:rPr lang="en-US" sz="1500" b="1" i="0" u="none" strike="noStrike" cap="none" dirty="0" err="1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arga</a:t>
            </a:r>
            <a:r>
              <a:rPr lang="en-US" sz="1500" b="1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Cognitive: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50-100 cuestas digitalis Por persona premedia.</a:t>
            </a:r>
            <a:endParaRPr dirty="0"/>
          </a:p>
        </p:txBody>
      </p:sp>
      <p:sp>
        <p:nvSpPr>
          <p:cNvPr id="100" name="Google Shape;100;p14"/>
          <p:cNvSpPr txBox="1"/>
          <p:nvPr/>
        </p:nvSpPr>
        <p:spPr>
          <a:xfrm>
            <a:off x="6619875" y="3277492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Hábitos Peligrosos: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23% usa "123456" o "password" (NordPass 2025) y 65% reutiliza contraseñas.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619875" y="4029967"/>
            <a:ext cx="49911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Herramientas Inseguras: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Uso de funciones predictibles como Math.random().</a:t>
            </a:r>
            <a:endParaRPr/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567880"/>
            <a:ext cx="219075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3320355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34125" y="4072830"/>
            <a:ext cx="2190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El Problema de la </a:t>
            </a:r>
            <a:r>
              <a:rPr lang="en-US" sz="3150" b="0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Inseguridad Digital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724025"/>
            <a:ext cx="3422600" cy="402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4625" y="1724025"/>
            <a:ext cx="3422600" cy="402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88225" y="1724025"/>
            <a:ext cx="3422600" cy="4028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16000" y="211455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1277123" y="3305175"/>
            <a:ext cx="2030253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Modo Generar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76300" y="3848100"/>
            <a:ext cx="283205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Crea contraseñas totalmente aleatorias (8-32 caracteres) combinando hasta 4 tipos de caracteres. Asegura máxima robustez matemática.</a:t>
            </a:r>
            <a:endParaRPr/>
          </a:p>
        </p:txBody>
      </p:sp>
      <p:pic>
        <p:nvPicPr>
          <p:cNvPr id="118" name="Google Shape;118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19601" y="211455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5"/>
          <p:cNvSpPr txBox="1"/>
          <p:nvPr/>
        </p:nvSpPr>
        <p:spPr>
          <a:xfrm>
            <a:off x="4815691" y="3305175"/>
            <a:ext cx="256032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Modo Passphrase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4679900" y="3848100"/>
            <a:ext cx="28320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Genera frases de contraseña memorables en español usando diccionarios estructurados. Ideal para recordar sin perder seguridad.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423201" y="2114550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8694300" y="3305175"/>
            <a:ext cx="2410301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Modo Analizador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8483500" y="3848100"/>
            <a:ext cx="28320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Detecta patrones débiles, muestra la entropía visible en bits con una barra de fortaleza proporcional y estima el tiempo de ruptura.</a:t>
            </a:r>
            <a:endParaRPr/>
          </a:p>
        </p:txBody>
      </p:sp>
      <p:pic>
        <p:nvPicPr>
          <p:cNvPr id="124" name="Google Shape;124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030313" y="2328862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00576" y="2328862"/>
            <a:ext cx="59055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637514" y="2328862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5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La Solución: </a:t>
            </a:r>
            <a:r>
              <a:rPr lang="en-US" sz="3150" b="0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 Modos en 1</a:t>
            </a: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1527274"/>
            <a:ext cx="5276850" cy="14323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150096"/>
            <a:ext cx="5276850" cy="171033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334125" y="5050928"/>
            <a:ext cx="5276850" cy="142279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581025" y="1527274"/>
            <a:ext cx="554069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Diseño de Software Desacoplado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581025" y="2070199"/>
            <a:ext cx="52768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El proyecto está estructurado utilizando el patrón de arquitectura de 3 capas. Este diseño modular garantiza que la aplicación sea escalable, mantenible y cumpla con las mejores prácticas de ingeniería de software.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581025" y="3432274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Desarrollado con tecnologías Open Source (Python + module secrets + tkinter) garantizando transparencia total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sin dependencias externas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8953500" y="1819424"/>
            <a:ext cx="38100" cy="84802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 txBox="1"/>
          <p:nvPr/>
        </p:nvSpPr>
        <p:spPr>
          <a:xfrm>
            <a:off x="6915150" y="1774924"/>
            <a:ext cx="467058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CAPA 1 - Presentación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6581775" y="2184499"/>
            <a:ext cx="4781550" cy="5274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GeneradorApp (tkinter) - Maneja las 3 pestañas, captura eventos, valida entradas y actualiza la Interfaz de Usuario.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8953500" y="3497760"/>
            <a:ext cx="38100" cy="1015003"/>
          </a:xfrm>
          <a:prstGeom prst="roundRect">
            <a:avLst>
              <a:gd name="adj" fmla="val 50000"/>
            </a:avLst>
          </a:prstGeom>
          <a:solidFill>
            <a:srgbClr val="818C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 txBox="1"/>
          <p:nvPr/>
        </p:nvSpPr>
        <p:spPr>
          <a:xfrm>
            <a:off x="6943725" y="3397746"/>
            <a:ext cx="464058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CAPA 2 - Lógica de Negocio</a:t>
            </a:r>
            <a:endParaRPr/>
          </a:p>
        </p:txBody>
      </p:sp>
      <p:sp>
        <p:nvSpPr>
          <p:cNvPr id="145" name="Google Shape;145;p16"/>
          <p:cNvSpPr txBox="1"/>
          <p:nvPr/>
        </p:nvSpPr>
        <p:spPr>
          <a:xfrm>
            <a:off x="6581775" y="3807321"/>
            <a:ext cx="4781550" cy="805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Core del sistema: generar_contrasena(), generar_passphrase(), analizar_contrasena() y calcular_fortaleza().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8953500" y="5341143"/>
            <a:ext cx="38100" cy="842367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 txBox="1"/>
          <p:nvPr/>
        </p:nvSpPr>
        <p:spPr>
          <a:xfrm>
            <a:off x="6858000" y="5298578"/>
            <a:ext cx="473059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CAPA 3 - Datos y Constantes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581775" y="5708153"/>
            <a:ext cx="4781550" cy="517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Almacena pools: MAYUSCULAS, MINUSCULAS, NUMEROS, SIMBOLOS. Diccionario PALABRAS (130+), y MAX_ENTROPIA.</a:t>
            </a:r>
            <a:endParaRPr/>
          </a:p>
        </p:txBody>
      </p:sp>
      <p:pic>
        <p:nvPicPr>
          <p:cNvPr id="149" name="Google Shape;14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581775" y="1827311"/>
            <a:ext cx="23812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81775" y="3450133"/>
            <a:ext cx="26670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581775" y="5350966"/>
            <a:ext cx="180975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6"/>
          <p:cNvSpPr txBox="1"/>
          <p:nvPr/>
        </p:nvSpPr>
        <p:spPr>
          <a:xfrm>
            <a:off x="581025" y="384274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Arquitectura </a:t>
            </a:r>
            <a:r>
              <a:rPr lang="en-US" sz="3150" b="0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3 Capas</a:t>
            </a:r>
            <a:endParaRPr/>
          </a:p>
        </p:txBody>
      </p:sp>
      <p:sp>
        <p:nvSpPr>
          <p:cNvPr id="153" name="Google Shape;153;p16"/>
          <p:cNvSpPr/>
          <p:nvPr/>
        </p:nvSpPr>
        <p:spPr>
          <a:xfrm>
            <a:off x="581025" y="1127224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077616"/>
            <a:ext cx="5276850" cy="138871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1334541"/>
            <a:ext cx="52768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581025" y="1334541"/>
            <a:ext cx="554069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Midiendo la Fortaleza Real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581025" y="1877466"/>
            <a:ext cx="52768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La seguridad no se basa en adivinanzas, sino en matemáticas. Usamos la Entropía de Shannon para calcular la resistencia de las contraseñas generadas.</a:t>
            </a:r>
            <a:endParaRPr/>
          </a:p>
        </p:txBody>
      </p:sp>
      <p:pic>
        <p:nvPicPr>
          <p:cNvPr id="163" name="Google Shape;163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62298" y="3363366"/>
            <a:ext cx="2552253" cy="36954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1690687" y="3971032"/>
            <a:ext cx="3095625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Lato"/>
                <a:ea typeface="Lato"/>
                <a:cs typeface="Lato"/>
                <a:sym typeface="Lato"/>
              </a:rPr>
              <a:t>Donde L = longitud, N = pool de caracteres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866775" y="4752082"/>
            <a:ext cx="4991100" cy="92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Módulo secrets: CSPRNG (Generador de números pseudoaleatorios criptográficamente seguro) del Sistema Operativo.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866775" y="5866507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Algoritmo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Fisher-Yates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: Garantiza una mezcla perfectamente uniforme para evitar sesgos en la selección.</a:t>
            </a:r>
            <a:endParaRPr/>
          </a:p>
        </p:txBody>
      </p:sp>
      <p:pic>
        <p:nvPicPr>
          <p:cNvPr id="167" name="Google Shape;167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343650" y="1344066"/>
            <a:ext cx="525780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4794944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1025" y="5909369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581025" y="191541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Criptografía y </a:t>
            </a:r>
            <a:r>
              <a:rPr lang="en-US" sz="3150" b="0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Entropía de Shannon</a:t>
            </a:r>
            <a:endParaRPr/>
          </a:p>
        </p:txBody>
      </p:sp>
      <p:sp>
        <p:nvSpPr>
          <p:cNvPr id="171" name="Google Shape;171;p17"/>
          <p:cNvSpPr/>
          <p:nvPr/>
        </p:nvSpPr>
        <p:spPr>
          <a:xfrm>
            <a:off x="581025" y="934491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/>
          <p:nvPr/>
        </p:nvSpPr>
        <p:spPr>
          <a:xfrm>
            <a:off x="581025" y="1152525"/>
            <a:ext cx="5372100" cy="1773435"/>
          </a:xfrm>
          <a:prstGeom prst="roundRect">
            <a:avLst>
              <a:gd name="adj" fmla="val 4296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1247775" y="1390650"/>
            <a:ext cx="4419600" cy="1297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Evaluación de Muestras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100 muestras generadas (16 caracteres, 4 tipos). Resultado: 100% categorizadas como nivel MUY FUERTE.</a:t>
            </a: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581025" y="1152525"/>
            <a:ext cx="38100" cy="177343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6238875" y="1152525"/>
            <a:ext cx="5372100" cy="1773435"/>
          </a:xfrm>
          <a:prstGeom prst="roundRect">
            <a:avLst>
              <a:gd name="adj" fmla="val 4296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6905625" y="1390650"/>
            <a:ext cx="4419600" cy="1297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Entropía Promedio Lograda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104.9 bits alcanzados. Esto supera ampliamente el estándar oficial exigido por la NIST (80 bits).</a:t>
            </a: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6238875" y="1152525"/>
            <a:ext cx="38100" cy="177343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581025" y="3354585"/>
            <a:ext cx="5372100" cy="1773435"/>
          </a:xfrm>
          <a:prstGeom prst="roundRect">
            <a:avLst>
              <a:gd name="adj" fmla="val 4296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 txBox="1"/>
          <p:nvPr/>
        </p:nvSpPr>
        <p:spPr>
          <a:xfrm>
            <a:off x="1247775" y="3592710"/>
            <a:ext cx="4419600" cy="1297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Resistencia Estimada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El tiempo de ruptura (cracking) estimado frente a ataques de fuerza bruta actuales es de miles de años.</a:t>
            </a: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581025" y="3354585"/>
            <a:ext cx="38100" cy="177343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/>
          <p:nvPr/>
        </p:nvSpPr>
        <p:spPr>
          <a:xfrm>
            <a:off x="6238875" y="3354585"/>
            <a:ext cx="5372100" cy="1773435"/>
          </a:xfrm>
          <a:prstGeom prst="roundRect">
            <a:avLst>
              <a:gd name="adj" fmla="val 4296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8"/>
          <p:cNvSpPr txBox="1"/>
          <p:nvPr/>
        </p:nvSpPr>
        <p:spPr>
          <a:xfrm>
            <a:off x="6905625" y="3592710"/>
            <a:ext cx="4419600" cy="12971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Evaluación de Passphrase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Frase de 8 palabras = 57.2 bits. Es segura, pero escalable a futuro implementando el método Diceware completo.</a:t>
            </a: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6238875" y="3354585"/>
            <a:ext cx="38100" cy="177343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581025" y="5556646"/>
            <a:ext cx="5372100" cy="1773435"/>
          </a:xfrm>
          <a:prstGeom prst="roundRect">
            <a:avLst>
              <a:gd name="adj" fmla="val 4296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1247775" y="5794771"/>
            <a:ext cx="4419600" cy="1063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Detección de Vulnerabilidades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El analizador detecta contraseñas débiles rápidamente: Ej. "123456" = 19.9 bits (ruptura en segundos).</a:t>
            </a: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581025" y="5556646"/>
            <a:ext cx="38100" cy="177343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6238875" y="5556646"/>
            <a:ext cx="5372100" cy="1773435"/>
          </a:xfrm>
          <a:prstGeom prst="roundRect">
            <a:avLst>
              <a:gd name="adj" fmla="val 4296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6905625" y="5794771"/>
            <a:ext cx="4419600" cy="1063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Propuesta de Valor Única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El único proyecto de su clase que integra orgánicamente la triada: Generar + Analizar + Educar al usuario.</a:t>
            </a: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6238875" y="5556646"/>
            <a:ext cx="38100" cy="1773435"/>
          </a:xfrm>
          <a:prstGeom prst="rect">
            <a:avLst/>
          </a:prstGeom>
          <a:solidFill>
            <a:srgbClr val="22D3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09625" y="138588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67475" y="1385887"/>
            <a:ext cx="266700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" y="3587948"/>
            <a:ext cx="2000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467475" y="3587948"/>
            <a:ext cx="238125" cy="27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467475" y="5790009"/>
            <a:ext cx="304800" cy="27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8"/>
          <p:cNvSpPr txBox="1"/>
          <p:nvPr/>
        </p:nvSpPr>
        <p:spPr>
          <a:xfrm>
            <a:off x="581025" y="95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Resultados de </a:t>
            </a:r>
            <a:r>
              <a:rPr lang="en-US" sz="3150" b="0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Pruebas Empíricas</a:t>
            </a: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581025" y="7524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19"/>
          <p:cNvSpPr txBox="1"/>
          <p:nvPr/>
        </p:nvSpPr>
        <p:spPr>
          <a:xfrm>
            <a:off x="581025" y="5695801"/>
            <a:ext cx="110299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Diferenciador clave: Nuestro sistema no es una caja negra; enseña al usuario por qué una contraseña es segura mostrando su entropía real.</a:t>
            </a:r>
            <a:endParaRPr/>
          </a:p>
        </p:txBody>
      </p:sp>
      <p:sp>
        <p:nvSpPr>
          <p:cNvPr id="208" name="Google Shape;208;p19"/>
          <p:cNvSpPr/>
          <p:nvPr/>
        </p:nvSpPr>
        <p:spPr>
          <a:xfrm>
            <a:off x="581025" y="1552723"/>
            <a:ext cx="11029950" cy="3952577"/>
          </a:xfrm>
          <a:prstGeom prst="roundRect">
            <a:avLst>
              <a:gd name="adj" fmla="val 0"/>
            </a:avLst>
          </a:prstGeom>
          <a:solidFill>
            <a:srgbClr val="1E293B"/>
          </a:solidFill>
          <a:ln w="9525" cap="flat" cmpd="sng">
            <a:solidFill>
              <a:srgbClr val="4A7DBA"/>
            </a:solidFill>
            <a:prstDash val="solid"/>
            <a:round/>
            <a:headEnd type="none" w="sm" len="sm"/>
            <a:tailEnd type="none" w="sm" len="sm"/>
          </a:ln>
          <a:effectLst>
            <a:outerShdw blurRad="40000" dist="23000" dir="5400000" rotWithShape="0">
              <a:srgbClr val="000000">
                <a:alpha val="34901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9" name="Google Shape;209;p19"/>
          <p:cNvGraphicFramePr/>
          <p:nvPr/>
        </p:nvGraphicFramePr>
        <p:xfrm>
          <a:off x="581025" y="1552723"/>
          <a:ext cx="11029950" cy="3952525"/>
        </p:xfrm>
        <a:graphic>
          <a:graphicData uri="http://schemas.openxmlformats.org/drawingml/2006/table">
            <a:tbl>
              <a:tblPr firstRow="1" bandRow="1">
                <a:noFill/>
                <a:tableStyleId>{3A451575-91BB-45FB-9684-EBE81200015D}</a:tableStyleId>
              </a:tblPr>
              <a:tblGrid>
                <a:gridCol w="3323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89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2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10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4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58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2D3E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Característica Evaluada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8FAFC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ESTE PROYECTO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2D3E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LastPass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2D3E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Bitwarden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061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22D3EE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random.org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2061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8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Generación Segura (CSPRNG)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(secrets)</a:t>
                      </a:r>
                      <a:endParaRPr/>
                    </a:p>
                  </a:txBody>
                  <a:tcPr marL="3143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143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143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(Atmosférico)</a:t>
                      </a:r>
                      <a:endParaRPr/>
                    </a:p>
                  </a:txBody>
                  <a:tcPr marL="3143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8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Modo Passphrase (Español)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Integrado</a:t>
                      </a:r>
                      <a:endParaRPr/>
                    </a:p>
                  </a:txBody>
                  <a:tcPr marL="3143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(Solo Inglés)</a:t>
                      </a:r>
                      <a:endParaRPr/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(Solo Inglés)</a:t>
                      </a:r>
                      <a:endParaRPr/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8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Analizador de Entropía Visible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(Educativo)</a:t>
                      </a:r>
                      <a:endParaRPr/>
                    </a:p>
                  </a:txBody>
                  <a:tcPr marL="3143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(No visible)</a:t>
                      </a:r>
                      <a:endParaRPr/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(Solo barra)</a:t>
                      </a:r>
                      <a:endParaRPr/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587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Enfoque Educativo Integral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3143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28575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587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Transparencia / Privacidad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(Open Source local)</a:t>
                      </a:r>
                      <a:endParaRPr/>
                    </a:p>
                  </a:txBody>
                  <a:tcPr marL="3143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(Cloud, caja negra)</a:t>
                      </a:r>
                      <a:endParaRPr/>
                    </a:p>
                  </a:txBody>
                  <a:tcPr marL="3714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(Open Source)</a:t>
                      </a:r>
                      <a:endParaRPr/>
                    </a:p>
                  </a:txBody>
                  <a:tcPr marL="31432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 u="none" strike="noStrike" cap="none">
                          <a:solidFill>
                            <a:srgbClr val="94A3B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(Web tracker)</a:t>
                      </a:r>
                      <a:endParaRPr/>
                    </a:p>
                  </a:txBody>
                  <a:tcPr marL="371475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10" name="Google Shape;210;p19"/>
          <p:cNvSpPr/>
          <p:nvPr/>
        </p:nvSpPr>
        <p:spPr>
          <a:xfrm>
            <a:off x="581025" y="2233761"/>
            <a:ext cx="33234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9"/>
          <p:cNvSpPr/>
          <p:nvPr/>
        </p:nvSpPr>
        <p:spPr>
          <a:xfrm>
            <a:off x="3904505" y="2233761"/>
            <a:ext cx="208924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9"/>
          <p:cNvSpPr/>
          <p:nvPr/>
        </p:nvSpPr>
        <p:spPr>
          <a:xfrm>
            <a:off x="5993755" y="2233761"/>
            <a:ext cx="19920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/>
          <p:nvPr/>
        </p:nvSpPr>
        <p:spPr>
          <a:xfrm>
            <a:off x="7985819" y="2233761"/>
            <a:ext cx="17103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/>
          <p:nvPr/>
        </p:nvSpPr>
        <p:spPr>
          <a:xfrm>
            <a:off x="9696152" y="2233761"/>
            <a:ext cx="191482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/>
          <p:nvPr/>
        </p:nvSpPr>
        <p:spPr>
          <a:xfrm>
            <a:off x="581025" y="2887116"/>
            <a:ext cx="33234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/>
          <p:nvPr/>
        </p:nvSpPr>
        <p:spPr>
          <a:xfrm>
            <a:off x="3904505" y="2887116"/>
            <a:ext cx="208924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/>
          <p:nvPr/>
        </p:nvSpPr>
        <p:spPr>
          <a:xfrm>
            <a:off x="5993755" y="2887116"/>
            <a:ext cx="19920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9"/>
          <p:cNvSpPr/>
          <p:nvPr/>
        </p:nvSpPr>
        <p:spPr>
          <a:xfrm>
            <a:off x="7985819" y="2887116"/>
            <a:ext cx="17103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9"/>
          <p:cNvSpPr/>
          <p:nvPr/>
        </p:nvSpPr>
        <p:spPr>
          <a:xfrm>
            <a:off x="9696152" y="2887116"/>
            <a:ext cx="191482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9"/>
          <p:cNvSpPr/>
          <p:nvPr/>
        </p:nvSpPr>
        <p:spPr>
          <a:xfrm>
            <a:off x="581025" y="3540472"/>
            <a:ext cx="33234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9"/>
          <p:cNvSpPr/>
          <p:nvPr/>
        </p:nvSpPr>
        <p:spPr>
          <a:xfrm>
            <a:off x="3904505" y="3540472"/>
            <a:ext cx="208924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9"/>
          <p:cNvSpPr/>
          <p:nvPr/>
        </p:nvSpPr>
        <p:spPr>
          <a:xfrm>
            <a:off x="5993755" y="3540472"/>
            <a:ext cx="19920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9"/>
          <p:cNvSpPr/>
          <p:nvPr/>
        </p:nvSpPr>
        <p:spPr>
          <a:xfrm>
            <a:off x="7985819" y="3540472"/>
            <a:ext cx="17103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9"/>
          <p:cNvSpPr/>
          <p:nvPr/>
        </p:nvSpPr>
        <p:spPr>
          <a:xfrm>
            <a:off x="9696152" y="3540472"/>
            <a:ext cx="191482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9"/>
          <p:cNvSpPr/>
          <p:nvPr/>
        </p:nvSpPr>
        <p:spPr>
          <a:xfrm>
            <a:off x="581025" y="4193827"/>
            <a:ext cx="33234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9"/>
          <p:cNvSpPr/>
          <p:nvPr/>
        </p:nvSpPr>
        <p:spPr>
          <a:xfrm>
            <a:off x="3904505" y="4193827"/>
            <a:ext cx="208924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9"/>
          <p:cNvSpPr/>
          <p:nvPr/>
        </p:nvSpPr>
        <p:spPr>
          <a:xfrm>
            <a:off x="5993755" y="4193827"/>
            <a:ext cx="19920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9"/>
          <p:cNvSpPr/>
          <p:nvPr/>
        </p:nvSpPr>
        <p:spPr>
          <a:xfrm>
            <a:off x="7985819" y="4193827"/>
            <a:ext cx="17103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9696152" y="4193827"/>
            <a:ext cx="191482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581025" y="4847183"/>
            <a:ext cx="3323480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3904505" y="4847183"/>
            <a:ext cx="208924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5993755" y="4847183"/>
            <a:ext cx="1992064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7985819" y="4847183"/>
            <a:ext cx="171033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9696152" y="4847183"/>
            <a:ext cx="191482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5" name="Google Shape;235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18225" y="3745259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53842" y="2438548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10980" y="309190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49117" y="439861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67838" y="3745259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0" name="Google Shape;240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567838" y="439861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03987" y="439861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59973" y="3745259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3" name="Google Shape;243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567838" y="3091904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89650" y="3091904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40923" y="3091904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058251" y="505197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740973" y="2438548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58592" y="3745259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1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196655" y="505197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242000" y="505197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1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55198" y="505197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86826" y="2438548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89700" y="2438548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55260" y="439861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553842" y="2438548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89700" y="2438548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9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740973" y="2438548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86826" y="2438548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10980" y="3091904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489650" y="3091904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40923" y="3091904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567838" y="3091904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58592" y="3745259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18225" y="3745259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59973" y="3745259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0567838" y="3745259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849117" y="4398615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03987" y="439861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9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755260" y="439861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567838" y="4398615"/>
            <a:ext cx="1714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4196655" y="505197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242000" y="5051970"/>
            <a:ext cx="25717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19" descr="image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55198" y="5051970"/>
            <a:ext cx="200025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9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058251" y="5051970"/>
            <a:ext cx="25717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19"/>
          <p:cNvSpPr txBox="1"/>
          <p:nvPr/>
        </p:nvSpPr>
        <p:spPr>
          <a:xfrm>
            <a:off x="581025" y="409723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Análisis </a:t>
            </a:r>
            <a:r>
              <a:rPr lang="en-US" sz="3150" b="0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Comparativo</a:t>
            </a:r>
            <a:endParaRPr/>
          </a:p>
        </p:txBody>
      </p:sp>
      <p:sp>
        <p:nvSpPr>
          <p:cNvPr id="276" name="Google Shape;276;p19"/>
          <p:cNvSpPr/>
          <p:nvPr/>
        </p:nvSpPr>
        <p:spPr>
          <a:xfrm>
            <a:off x="581025" y="1152673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" name="Google Shape;28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00237"/>
            <a:ext cx="3422600" cy="474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84625" y="1900237"/>
            <a:ext cx="3422600" cy="474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88225" y="1900237"/>
            <a:ext cx="3422600" cy="4743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1050" y="2100262"/>
            <a:ext cx="30225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584650" y="2100262"/>
            <a:ext cx="30225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0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388250" y="2100262"/>
            <a:ext cx="30225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0"/>
          <p:cNvSpPr txBox="1"/>
          <p:nvPr/>
        </p:nvSpPr>
        <p:spPr>
          <a:xfrm>
            <a:off x="2028825" y="1357312"/>
            <a:ext cx="81343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Representación de los modelos estructurales y algorítmicos implementados en las capas del sistema.</a:t>
            </a:r>
            <a:endParaRPr/>
          </a:p>
        </p:txBody>
      </p:sp>
      <p:sp>
        <p:nvSpPr>
          <p:cNvPr id="289" name="Google Shape;289;p20"/>
          <p:cNvSpPr txBox="1"/>
          <p:nvPr/>
        </p:nvSpPr>
        <p:spPr>
          <a:xfrm>
            <a:off x="705486" y="4672012"/>
            <a:ext cx="317367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Flujo de Generación</a:t>
            </a:r>
            <a:endParaRPr/>
          </a:p>
        </p:txBody>
      </p:sp>
      <p:sp>
        <p:nvSpPr>
          <p:cNvPr id="290" name="Google Shape;290;p20"/>
          <p:cNvSpPr txBox="1"/>
          <p:nvPr/>
        </p:nvSpPr>
        <p:spPr>
          <a:xfrm>
            <a:off x="781050" y="5214937"/>
            <a:ext cx="30225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Validación de inputs, selección criptográfica de caracteres (Fisher-Yates) y construcción de cadena final.</a:t>
            </a:r>
            <a:endParaRPr/>
          </a:p>
        </p:txBody>
      </p:sp>
      <p:sp>
        <p:nvSpPr>
          <p:cNvPr id="291" name="Google Shape;291;p20"/>
          <p:cNvSpPr txBox="1"/>
          <p:nvPr/>
        </p:nvSpPr>
        <p:spPr>
          <a:xfrm>
            <a:off x="4509086" y="4672012"/>
            <a:ext cx="3173677" cy="8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Modelado del Sistema</a:t>
            </a:r>
            <a:endParaRPr/>
          </a:p>
        </p:txBody>
      </p:sp>
      <p:sp>
        <p:nvSpPr>
          <p:cNvPr id="292" name="Google Shape;292;p20"/>
          <p:cNvSpPr txBox="1"/>
          <p:nvPr/>
        </p:nvSpPr>
        <p:spPr>
          <a:xfrm>
            <a:off x="4584650" y="5614987"/>
            <a:ext cx="30225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Interacción entre la capa de presentación (UI) y los controladores lógicos internos del gestor Python.</a:t>
            </a:r>
            <a:endParaRPr/>
          </a:p>
        </p:txBody>
      </p:sp>
      <p:sp>
        <p:nvSpPr>
          <p:cNvPr id="293" name="Google Shape;293;p20"/>
          <p:cNvSpPr txBox="1"/>
          <p:nvPr/>
        </p:nvSpPr>
        <p:spPr>
          <a:xfrm>
            <a:off x="8312687" y="4672012"/>
            <a:ext cx="317367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Algoritmo Analizador</a:t>
            </a:r>
            <a:endParaRPr/>
          </a:p>
        </p:txBody>
      </p:sp>
      <p:sp>
        <p:nvSpPr>
          <p:cNvPr id="294" name="Google Shape;294;p20"/>
          <p:cNvSpPr txBox="1"/>
          <p:nvPr/>
        </p:nvSpPr>
        <p:spPr>
          <a:xfrm>
            <a:off x="8388250" y="5214937"/>
            <a:ext cx="302255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Evaluación de longitud, detección de sub-diccionarios y cálculo de Entropía de Shannon (bits).</a:t>
            </a:r>
            <a:endParaRPr/>
          </a:p>
        </p:txBody>
      </p:sp>
      <p:pic>
        <p:nvPicPr>
          <p:cNvPr id="295" name="Google Shape;295;p20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81050" y="2100262"/>
            <a:ext cx="30225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0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584650" y="2100262"/>
            <a:ext cx="302255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0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388250" y="2100262"/>
            <a:ext cx="3022550" cy="238125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0"/>
          <p:cNvSpPr txBox="1"/>
          <p:nvPr/>
        </p:nvSpPr>
        <p:spPr>
          <a:xfrm>
            <a:off x="581025" y="214312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Diagramas de </a:t>
            </a:r>
            <a:r>
              <a:rPr lang="en-US" sz="3150" b="0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Flujo Lógico</a:t>
            </a:r>
            <a:endParaRPr/>
          </a:p>
        </p:txBody>
      </p:sp>
      <p:sp>
        <p:nvSpPr>
          <p:cNvPr id="299" name="Google Shape;299;p20"/>
          <p:cNvSpPr/>
          <p:nvPr/>
        </p:nvSpPr>
        <p:spPr>
          <a:xfrm>
            <a:off x="581025" y="957262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1"/>
          <p:cNvSpPr txBox="1"/>
          <p:nvPr/>
        </p:nvSpPr>
        <p:spPr>
          <a:xfrm>
            <a:off x="581025" y="1724025"/>
            <a:ext cx="554069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Limitaciones Detectadas</a:t>
            </a:r>
            <a:endParaRPr/>
          </a:p>
        </p:txBody>
      </p:sp>
      <p:sp>
        <p:nvSpPr>
          <p:cNvPr id="306" name="Google Shape;306;p21"/>
          <p:cNvSpPr txBox="1"/>
          <p:nvPr/>
        </p:nvSpPr>
        <p:spPr>
          <a:xfrm>
            <a:off x="6334125" y="1724025"/>
            <a:ext cx="554069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Conclusiones Finales</a:t>
            </a:r>
            <a:endParaRPr/>
          </a:p>
        </p:txBody>
      </p:sp>
      <p:sp>
        <p:nvSpPr>
          <p:cNvPr id="307" name="Google Shape;307;p21"/>
          <p:cNvSpPr txBox="1"/>
          <p:nvPr/>
        </p:nvSpPr>
        <p:spPr>
          <a:xfrm>
            <a:off x="866775" y="2266950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Diccionario Passphrase limitado: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Actualmente cuenta con poco más de 130 palabras, lo que reduce la variabilidad.</a:t>
            </a:r>
            <a:endParaRPr/>
          </a:p>
        </p:txBody>
      </p:sp>
      <p:sp>
        <p:nvSpPr>
          <p:cNvPr id="308" name="Google Shape;308;p21"/>
          <p:cNvSpPr txBox="1"/>
          <p:nvPr/>
        </p:nvSpPr>
        <p:spPr>
          <a:xfrm>
            <a:off x="866775" y="3067050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Análisis Heurístico: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Sin detección avanzada de palabras comunes o patrones de teclado secuenciales (qwerty).</a:t>
            </a:r>
            <a:endParaRPr/>
          </a:p>
        </p:txBody>
      </p:sp>
      <p:sp>
        <p:nvSpPr>
          <p:cNvPr id="309" name="Google Shape;309;p21"/>
          <p:cNvSpPr txBox="1"/>
          <p:nvPr/>
        </p:nvSpPr>
        <p:spPr>
          <a:xfrm>
            <a:off x="866775" y="3867150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Tasa Conservadora: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Tasa de ruptura estimada muy conservadora (10^9 guesses/s).</a:t>
            </a:r>
            <a:endParaRPr/>
          </a:p>
        </p:txBody>
      </p:sp>
      <p:sp>
        <p:nvSpPr>
          <p:cNvPr id="310" name="Google Shape;310;p21"/>
          <p:cNvSpPr txBox="1"/>
          <p:nvPr/>
        </p:nvSpPr>
        <p:spPr>
          <a:xfrm>
            <a:off x="866775" y="4667250"/>
            <a:ext cx="4991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Alcance de la Herramienta: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No es un gestor (bóveda); solo genera y analiza. La seguridad final recae en el almacenamiento del usuario.</a:t>
            </a:r>
            <a:endParaRPr/>
          </a:p>
        </p:txBody>
      </p:sp>
      <p:sp>
        <p:nvSpPr>
          <p:cNvPr id="311" name="Google Shape;311;p21"/>
          <p:cNvSpPr txBox="1"/>
          <p:nvPr/>
        </p:nvSpPr>
        <p:spPr>
          <a:xfrm>
            <a:off x="6619875" y="2266950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Robusteza Demostrada: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16 caracteres + 4 tipos garantizan 104.9 bits consistentes (Nivel Muy Fuerte).</a:t>
            </a:r>
            <a:endParaRPr/>
          </a:p>
        </p:txBody>
      </p:sp>
      <p:sp>
        <p:nvSpPr>
          <p:cNvPr id="312" name="Google Shape;312;p21"/>
          <p:cNvSpPr txBox="1"/>
          <p:nvPr/>
        </p:nvSpPr>
        <p:spPr>
          <a:xfrm>
            <a:off x="6619875" y="3067050"/>
            <a:ext cx="4991100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Seguridad OS: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El módulo secrets garantiza invulnerabilidad criptográfica en la generación local.</a:t>
            </a:r>
            <a:endParaRPr/>
          </a:p>
        </p:txBody>
      </p:sp>
      <p:sp>
        <p:nvSpPr>
          <p:cNvPr id="313" name="Google Shape;313;p21"/>
          <p:cNvSpPr txBox="1"/>
          <p:nvPr/>
        </p:nvSpPr>
        <p:spPr>
          <a:xfrm>
            <a:off x="6619875" y="3876675"/>
            <a:ext cx="49911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Visibilidad: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El analizador no solo detecta patrones débiles, sino que educa al usuario visualmente.</a:t>
            </a:r>
            <a:endParaRPr/>
          </a:p>
        </p:txBody>
      </p:sp>
      <p:sp>
        <p:nvSpPr>
          <p:cNvPr id="314" name="Google Shape;314;p21"/>
          <p:cNvSpPr txBox="1"/>
          <p:nvPr/>
        </p:nvSpPr>
        <p:spPr>
          <a:xfrm>
            <a:off x="6619875" y="4676775"/>
            <a:ext cx="49911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Innovación:</a:t>
            </a:r>
            <a:r>
              <a:rPr lang="en-US" sz="15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 Único proyecto de código abierto que integra exitosamente generación, validación y educación en una sola suite.</a:t>
            </a:r>
            <a:endParaRPr/>
          </a:p>
        </p:txBody>
      </p:sp>
      <p:pic>
        <p:nvPicPr>
          <p:cNvPr id="315" name="Google Shape;315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098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6" name="Google Shape;316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1099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7" name="Google Shape;31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39100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47101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23098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109912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3919537"/>
            <a:ext cx="171450" cy="18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34125" y="4719637"/>
            <a:ext cx="1714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21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Limitaciones y </a:t>
            </a:r>
            <a:r>
              <a:rPr lang="en-US" sz="3150" b="0" i="0" u="none" strike="noStrike" cap="none">
                <a:solidFill>
                  <a:srgbClr val="22D3EE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Conclusiones</a:t>
            </a:r>
            <a:endParaRPr/>
          </a:p>
        </p:txBody>
      </p:sp>
      <p:sp>
        <p:nvSpPr>
          <p:cNvPr id="324" name="Google Shape;324;p21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22"/>
          <p:cNvSpPr/>
          <p:nvPr/>
        </p:nvSpPr>
        <p:spPr>
          <a:xfrm>
            <a:off x="581025" y="1724025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2"/>
          <p:cNvSpPr/>
          <p:nvPr/>
        </p:nvSpPr>
        <p:spPr>
          <a:xfrm>
            <a:off x="581025" y="2508795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2"/>
          <p:cNvSpPr/>
          <p:nvPr/>
        </p:nvSpPr>
        <p:spPr>
          <a:xfrm>
            <a:off x="581025" y="3293566"/>
            <a:ext cx="11029950" cy="7847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2"/>
          <p:cNvSpPr/>
          <p:nvPr/>
        </p:nvSpPr>
        <p:spPr>
          <a:xfrm>
            <a:off x="581025" y="249927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2"/>
          <p:cNvSpPr/>
          <p:nvPr/>
        </p:nvSpPr>
        <p:spPr>
          <a:xfrm>
            <a:off x="581025" y="2499270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2"/>
          <p:cNvSpPr/>
          <p:nvPr/>
        </p:nvSpPr>
        <p:spPr>
          <a:xfrm>
            <a:off x="581025" y="328404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2"/>
          <p:cNvSpPr/>
          <p:nvPr/>
        </p:nvSpPr>
        <p:spPr>
          <a:xfrm>
            <a:off x="581025" y="3284041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2"/>
          <p:cNvSpPr/>
          <p:nvPr/>
        </p:nvSpPr>
        <p:spPr>
          <a:xfrm>
            <a:off x="581025" y="40688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2"/>
          <p:cNvSpPr/>
          <p:nvPr/>
        </p:nvSpPr>
        <p:spPr>
          <a:xfrm>
            <a:off x="581025" y="4068812"/>
            <a:ext cx="110299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39" name="Google Shape;339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73448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0" name="Google Shape;340;p22"/>
          <p:cNvSpPr txBox="1"/>
          <p:nvPr/>
        </p:nvSpPr>
        <p:spPr>
          <a:xfrm>
            <a:off x="1676400" y="1866900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https://static.vecteezy.com/system/resources/previews/078/170/769/non_2x/digital-cybersecurity-padlock-abstract-binary-data-background-vector.jpg</a:t>
            </a:r>
            <a:endParaRPr/>
          </a:p>
        </p:txBody>
      </p:sp>
      <p:sp>
        <p:nvSpPr>
          <p:cNvPr id="341" name="Google Shape;341;p22"/>
          <p:cNvSpPr txBox="1"/>
          <p:nvPr/>
        </p:nvSpPr>
        <p:spPr>
          <a:xfrm>
            <a:off x="1676400" y="211261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pic>
        <p:nvPicPr>
          <p:cNvPr id="342" name="Google Shape;342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265821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22"/>
          <p:cNvSpPr txBox="1"/>
          <p:nvPr/>
        </p:nvSpPr>
        <p:spPr>
          <a:xfrm>
            <a:off x="1676400" y="2651670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https://d8it4huxumps7.cloudfront.net/uploads/images/655dac33d41b0_algorithm_vs_flowchart_2.jpg?d=2000x2000</a:t>
            </a:r>
            <a:endParaRPr/>
          </a:p>
        </p:txBody>
      </p:sp>
      <p:sp>
        <p:nvSpPr>
          <p:cNvPr id="344" name="Google Shape;344;p22"/>
          <p:cNvSpPr txBox="1"/>
          <p:nvPr/>
        </p:nvSpPr>
        <p:spPr>
          <a:xfrm>
            <a:off x="1676400" y="2897385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unstop.com</a:t>
            </a:r>
            <a:endParaRPr/>
          </a:p>
        </p:txBody>
      </p:sp>
      <p:pic>
        <p:nvPicPr>
          <p:cNvPr id="345" name="Google Shape;345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81025" y="3442989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22"/>
          <p:cNvSpPr txBox="1"/>
          <p:nvPr/>
        </p:nvSpPr>
        <p:spPr>
          <a:xfrm>
            <a:off x="1676400" y="3436441"/>
            <a:ext cx="9934575" cy="198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https://d1.awsstatic.com/Figure_1.93fa4ba70e5cdbb38a36e99c003eda006e5f4821.png</a:t>
            </a:r>
            <a:endParaRPr/>
          </a:p>
        </p:txBody>
      </p:sp>
      <p:sp>
        <p:nvSpPr>
          <p:cNvPr id="347" name="Google Shape;347;p22"/>
          <p:cNvSpPr txBox="1"/>
          <p:nvPr/>
        </p:nvSpPr>
        <p:spPr>
          <a:xfrm>
            <a:off x="1676400" y="3682156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aws.amazon.com</a:t>
            </a:r>
            <a:endParaRPr/>
          </a:p>
        </p:txBody>
      </p:sp>
      <p:pic>
        <p:nvPicPr>
          <p:cNvPr id="348" name="Google Shape;348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1025" y="432688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22"/>
          <p:cNvSpPr txBox="1"/>
          <p:nvPr/>
        </p:nvSpPr>
        <p:spPr>
          <a:xfrm>
            <a:off x="1676400" y="4221212"/>
            <a:ext cx="9934575" cy="396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https://static.vecteezy.com/system/resources/previews/031/974/951/non_2x/data-processing-in-circuit-board-abstract-server-technology-background-cpu-circuit-concept-data-moves-in-the-form-of-moving-lines-3d-visualization-ai-processor-power-blue-digitalization-process-free-photo.jpg</a:t>
            </a:r>
            <a:endParaRPr/>
          </a:p>
        </p:txBody>
      </p:sp>
      <p:sp>
        <p:nvSpPr>
          <p:cNvPr id="350" name="Google Shape;350;p22"/>
          <p:cNvSpPr txBox="1"/>
          <p:nvPr/>
        </p:nvSpPr>
        <p:spPr>
          <a:xfrm>
            <a:off x="1676400" y="4665017"/>
            <a:ext cx="9934575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Lato"/>
                <a:ea typeface="Lato"/>
                <a:cs typeface="Lato"/>
                <a:sym typeface="Lato"/>
              </a:rPr>
              <a:t>www.vecteezy.com</a:t>
            </a:r>
            <a:endParaRPr/>
          </a:p>
        </p:txBody>
      </p:sp>
      <p:sp>
        <p:nvSpPr>
          <p:cNvPr id="351" name="Google Shape;351;p22"/>
          <p:cNvSpPr txBox="1"/>
          <p:nvPr/>
        </p:nvSpPr>
        <p:spPr>
          <a:xfrm>
            <a:off x="581025" y="581025"/>
            <a:ext cx="11581447" cy="619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F8FAFC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Image Sources</a:t>
            </a:r>
            <a:endParaRPr/>
          </a:p>
        </p:txBody>
      </p:sp>
      <p:sp>
        <p:nvSpPr>
          <p:cNvPr id="352" name="Google Shape;352;p22"/>
          <p:cNvSpPr/>
          <p:nvPr/>
        </p:nvSpPr>
        <p:spPr>
          <a:xfrm>
            <a:off x="581025" y="1323975"/>
            <a:ext cx="11029950" cy="1905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7" name="Google Shape;357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786955" y="4402484"/>
            <a:ext cx="6617940" cy="125149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19750" y="1204019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p23"/>
          <p:cNvSpPr txBox="1"/>
          <p:nvPr/>
        </p:nvSpPr>
        <p:spPr>
          <a:xfrm>
            <a:off x="4425791" y="2156519"/>
            <a:ext cx="3340417" cy="1009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8FAFC"/>
                </a:solidFill>
                <a:latin typeface="Poppins"/>
                <a:ea typeface="Poppins"/>
                <a:cs typeface="Poppins"/>
                <a:sym typeface="Poppins"/>
              </a:rPr>
              <a:t>¡Gracias!</a:t>
            </a:r>
            <a:endParaRPr/>
          </a:p>
        </p:txBody>
      </p:sp>
      <p:sp>
        <p:nvSpPr>
          <p:cNvPr id="361" name="Google Shape;361;p23"/>
          <p:cNvSpPr txBox="1"/>
          <p:nvPr/>
        </p:nvSpPr>
        <p:spPr>
          <a:xfrm>
            <a:off x="3509962" y="3356669"/>
            <a:ext cx="5172075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Lato"/>
                <a:ea typeface="Lato"/>
                <a:cs typeface="Lato"/>
                <a:sym typeface="Lato"/>
              </a:rPr>
              <a:t>¿Preguntas o comentarios sobre el proyecto?</a:t>
            </a:r>
            <a:endParaRPr/>
          </a:p>
        </p:txBody>
      </p:sp>
      <p:sp>
        <p:nvSpPr>
          <p:cNvPr id="362" name="Google Shape;362;p23"/>
          <p:cNvSpPr txBox="1"/>
          <p:nvPr/>
        </p:nvSpPr>
        <p:spPr>
          <a:xfrm>
            <a:off x="2786955" y="4697759"/>
            <a:ext cx="661794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Lato"/>
                <a:ea typeface="Lato"/>
                <a:cs typeface="Lato"/>
                <a:sym typeface="Lato"/>
              </a:rPr>
              <a:t>César Paúl Cango Medina</a:t>
            </a:r>
            <a:endParaRPr/>
          </a:p>
        </p:txBody>
      </p:sp>
      <p:sp>
        <p:nvSpPr>
          <p:cNvPr id="363" name="Google Shape;363;p23"/>
          <p:cNvSpPr txBox="1"/>
          <p:nvPr/>
        </p:nvSpPr>
        <p:spPr>
          <a:xfrm>
            <a:off x="2786955" y="5206305"/>
            <a:ext cx="661794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22D3EE"/>
                </a:solidFill>
                <a:latin typeface="Lato"/>
                <a:ea typeface="Lato"/>
                <a:cs typeface="Lato"/>
                <a:sym typeface="Lato"/>
              </a:rPr>
              <a:t>Ingeniería en Sistemas Informáticos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991</Words>
  <Application>Microsoft Office PowerPoint</Application>
  <PresentationFormat>Panorámica</PresentationFormat>
  <Paragraphs>97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8" baseType="lpstr">
      <vt:lpstr>Lato Light</vt:lpstr>
      <vt:lpstr>Lato</vt:lpstr>
      <vt:lpstr>Arial</vt:lpstr>
      <vt:lpstr>Calibri</vt:lpstr>
      <vt:lpstr>Poppins</vt:lpstr>
      <vt:lpstr>Poppins SemiBold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tio airoh</cp:lastModifiedBy>
  <cp:revision>1</cp:revision>
  <dcterms:modified xsi:type="dcterms:W3CDTF">2026-06-27T01:01:27Z</dcterms:modified>
</cp:coreProperties>
</file>